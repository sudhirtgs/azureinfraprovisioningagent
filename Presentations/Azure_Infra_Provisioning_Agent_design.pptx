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F8F90-A34E-7426-435C-FB0E2D74CB60}" v="2" dt="2026-08-17T14:44:22.8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README: Azure Infra Provisioning Agent.
Internal reference: Accruent Assessment Report 05.15.25.docx notes that manual provisioning can lead to inconsistencies, errors, configuration drift, and deployment delays.
https://learn.microsoft.com/en-us/azure/developer/iac/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README: architecture and delivery flow.
Internal reference: azure-provisioning-agent-prompt_6021.pdf for schema-first tool behavior and confirmation rules.
https://azure.github.io/Azure-Landing-Zones/accelerator/
https://developer.hashicorp.com/terraform/tutorials/cloud/no-code-provisioning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README: benefits and extensibility claims are based on the described implementation.
https://learn.microsoft.com/en-us/azure/cloud-adoption-framework/ready/landing-zone/implementation-options
https://azure.github.io/Azure-Verified-Modules/
https://developer.hashicorp.com/terraform/tutorials/cloud/no-code-provisioning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1031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>
                <a:solidFill>
                  <a:srgbClr val="0078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AZURE INFRA PROVISIONING AGENT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502920" y="6528816"/>
            <a:ext cx="11183112" cy="0"/>
          </a:xfrm>
          <a:prstGeom prst="line">
            <a:avLst/>
          </a:prstGeom>
          <a:noFill/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83680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87386"/>
                </a:solidFill>
              </a:rPr>
              <a:t>Schema-driven • Deterministic • Human-governed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IaC creation creates avoidable delivery risk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9496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B7A"/>
                </a:solidFill>
              </a:rPr>
              <a:t>The hardest part is often not Terraform syntax. It is consistently capturing every mandatory design decision before code is written.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738360" y="621792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FDEDEC"/>
          </a:solidFill>
          <a:ln w="12700">
            <a:solidFill>
              <a:srgbClr val="FDED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676656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42B1C"/>
                </a:solidFill>
              </a:rPr>
              <a:t>PROBLEM STATEMENT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6903720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FE5ED"/>
            </a:solidFill>
            <a:prstDash val="solid"/>
          </a:ln>
          <a:effectLst>
            <a:outerShdw blurRad="25400" dist="127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105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2B1C"/>
                </a:solidFill>
              </a:rPr>
              <a:t>TODAY: EXPERT-DEPENDENT HANDCRAFTING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0392" y="2176272"/>
            <a:ext cx="384048" cy="38404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24942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42416" y="2578608"/>
            <a:ext cx="1" cy="448056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167128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Request arrives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216712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“Create an Azure SQL database”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0392" y="3026664"/>
            <a:ext cx="384048" cy="38404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099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42416" y="3429000"/>
            <a:ext cx="1" cy="448056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17320" y="3017520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Engineer interprets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71800" y="30175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Translate intent into variables, templates and policy choices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50392" y="3877056"/>
            <a:ext cx="384048" cy="384048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950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42416" y="4279392"/>
            <a:ext cx="1" cy="448056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867912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IaC is authored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971800" y="386791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Terraform files assembled manually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50392" y="4727448"/>
            <a:ext cx="384048" cy="384048"/>
          </a:xfrm>
          <a:prstGeom prst="ellipse">
            <a:avLst/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8006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17320" y="4718304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Review finds gaps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71800" y="4718304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Rework after missing or invalid inputs surface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26680" y="1572768"/>
            <a:ext cx="3904488" cy="4462272"/>
          </a:xfrm>
          <a:prstGeom prst="roundRect">
            <a:avLst>
              <a:gd name="adj" fmla="val 1874"/>
            </a:avLst>
          </a:prstGeom>
          <a:solidFill>
            <a:srgbClr val="FDEDEC"/>
          </a:solidFill>
          <a:ln w="12700">
            <a:solidFill>
              <a:srgbClr val="F3C6C2"/>
            </a:solidFill>
            <a:prstDash val="solid"/>
          </a:ln>
          <a:effectLst/>
        </p:spPr>
      </p:sp>
      <p:sp>
        <p:nvSpPr>
          <p:cNvPr id="28" name="Text 26"/>
          <p:cNvSpPr/>
          <p:nvPr/>
        </p:nvSpPr>
        <p:spPr>
          <a:xfrm>
            <a:off x="8028432" y="1810512"/>
            <a:ext cx="3310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42B1C"/>
                </a:solidFill>
              </a:rPr>
              <a:t>COMMONLY MISSED OR INCONSISTENT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37576" y="2212848"/>
            <a:ext cx="32644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0C5C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2340864"/>
            <a:ext cx="173736" cy="173736"/>
          </a:xfrm>
          <a:prstGeom prst="ellipse">
            <a:avLst/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22208" y="227685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DB size / SKU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56648" y="227685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Required capacity choice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37576" y="2834640"/>
            <a:ext cx="32644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0C5C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11312" y="2962656"/>
            <a:ext cx="173736" cy="173736"/>
          </a:xfrm>
          <a:prstGeom prst="ellipse">
            <a:avLst/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2208" y="28986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Region &amp; resource group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56648" y="28986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Placement and ownership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37576" y="3456432"/>
            <a:ext cx="32644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0C5C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11312" y="3584448"/>
            <a:ext cx="173736" cy="173736"/>
          </a:xfrm>
          <a:prstGeom prst="ellipse">
            <a:avLst/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35204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Environment &amp; tags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56648" y="35204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Cost and governance context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37576" y="4078224"/>
            <a:ext cx="32644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0C5C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11312" y="4206240"/>
            <a:ext cx="173736" cy="173736"/>
          </a:xfrm>
          <a:prstGeom prst="ellipse">
            <a:avLst/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22208" y="41422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Networking &amp; security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756648" y="41422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Connectivity and access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37576" y="4700016"/>
            <a:ext cx="3264408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0C5C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11312" y="4828032"/>
            <a:ext cx="173736" cy="173736"/>
          </a:xfrm>
          <a:prstGeom prst="ellipse">
            <a:avLst/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22208" y="476402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State / naming inputs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756648" y="4764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F6B7A"/>
                </a:solidFill>
              </a:rPr>
              <a:t>Repeatability and traceability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28432" y="5431536"/>
            <a:ext cx="3273552" cy="393192"/>
          </a:xfrm>
          <a:prstGeom prst="roundRect">
            <a:avLst>
              <a:gd name="adj" fmla="val 11628"/>
            </a:avLst>
          </a:prstGeom>
          <a:solidFill>
            <a:srgbClr val="C42B1C"/>
          </a:solidFill>
          <a:ln w="12700">
            <a:solidFill>
              <a:srgbClr val="C42B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8160" y="553212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Result: rework • drift • slower approvals</a:t>
            </a:r>
            <a:endParaRPr lang="en-US" sz="10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Design: LLM for conversation, deterministic pipeline for execution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9496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B7A"/>
                </a:solidFill>
              </a:rPr>
              <a:t>The accelerator separates flexible requirement capture from controlled code generation and deployment.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921240" y="62179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EAF4FB"/>
          </a:solidFill>
          <a:ln w="12700">
            <a:solidFill>
              <a:srgbClr val="EAF4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4392" y="67665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8D4"/>
                </a:solidFill>
              </a:rPr>
              <a:t>TARGET DESIGN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1591056" cy="4526280"/>
          </a:xfrm>
          <a:prstGeom prst="roundRect">
            <a:avLst>
              <a:gd name="adj" fmla="val 2874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8379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EXPERIENCE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093976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D7EA"/>
                </a:solidFill>
              </a:rPr>
              <a:t>Natural language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" y="29443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INTELLIGENCE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320040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D7EA"/>
                </a:solidFill>
              </a:rPr>
              <a:t>Schema-guided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" y="404164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DELIVERY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429768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D7EA"/>
                </a:solidFill>
              </a:rPr>
              <a:t>Deterministic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" y="51480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5404104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7D7EA"/>
                </a:solidFill>
              </a:rPr>
              <a:t>Human-controlled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1536192"/>
            <a:ext cx="9308592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633472"/>
            <a:ext cx="9308592" cy="950976"/>
          </a:xfrm>
          <a:prstGeom prst="roundRect">
            <a:avLst>
              <a:gd name="adj" fmla="val 4808"/>
            </a:avLst>
          </a:prstGeom>
          <a:solidFill>
            <a:srgbClr val="F0F6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3730752"/>
            <a:ext cx="9308592" cy="950976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31720" y="4828032"/>
            <a:ext cx="9308592" cy="950976"/>
          </a:xfrm>
          <a:prstGeom prst="roundRect">
            <a:avLst>
              <a:gd name="adj" fmla="val 4808"/>
            </a:avLst>
          </a:prstGeom>
          <a:solidFill>
            <a:srgbClr val="F0F6FB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8608" y="1755648"/>
            <a:ext cx="141732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1819656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78D4"/>
                </a:solidFill>
              </a:rPr>
              <a:t>Engineer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51760" y="202082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Chat / Streamlit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261104" y="1755648"/>
            <a:ext cx="1353312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2D9C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4256" y="1819656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D9CDB"/>
                </a:solidFill>
              </a:rPr>
              <a:t>FastAPI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34256" y="202082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POST /chat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879592" y="1755648"/>
            <a:ext cx="160020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6B4E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81965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4EFF"/>
                </a:solidFill>
              </a:rPr>
              <a:t>OpenAI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52744" y="2020824"/>
            <a:ext cx="14538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Tool-calling loop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871216" y="285292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17365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29169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</a:rPr>
              <a:t>Resource schema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944368" y="311810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Required • optional • enums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257800" y="285292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17365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29169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365D"/>
                </a:solidFill>
              </a:rPr>
              <a:t>Field validation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30952" y="311810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Patterns • values • dependencies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7644384" y="285292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107C1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17536" y="291693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7C10"/>
                </a:solidFill>
              </a:rPr>
              <a:t>User confirmation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17536" y="311810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Normalized requirement object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871216" y="395020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0078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44368" y="401421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78D4"/>
                </a:solidFill>
              </a:rPr>
              <a:t>Jinja2 renderer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944368" y="421538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Templates → .tf / .tfvars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5257800" y="395020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0078D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0952" y="401421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78D4"/>
                </a:solidFill>
              </a:rPr>
              <a:t>Feature branch + PR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330952" y="421538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Versioned change proposal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7644384" y="395020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0078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17536" y="401421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078D4"/>
                </a:solidFill>
              </a:rPr>
              <a:t>GitHub Actions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717536" y="421538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terraform plan as PR comment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2871216" y="504748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107C1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44368" y="511149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7C10"/>
                </a:solidFill>
              </a:rPr>
              <a:t>Plan review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2944368" y="531266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Change visibility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5257800" y="504748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107C1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30952" y="511149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7C10"/>
                </a:solidFill>
              </a:rPr>
              <a:t>Required approval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330952" y="531266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Protected environment / merge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7644384" y="5047488"/>
            <a:ext cx="196596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0320">
            <a:solidFill>
              <a:srgbClr val="107C1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17536" y="5111496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07C10"/>
                </a:solidFill>
              </a:rPr>
              <a:t>Terraform apply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717536" y="5312664"/>
            <a:ext cx="18196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F6B7A"/>
                </a:solidFill>
              </a:rPr>
              <a:t>Azure provisioning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3995928" y="2011680"/>
            <a:ext cx="219456" cy="16459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32704" y="2011680"/>
            <a:ext cx="219456" cy="16459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92040" y="3108960"/>
            <a:ext cx="320040" cy="16459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78624" y="3108960"/>
            <a:ext cx="320040" cy="16459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892040" y="4206240"/>
            <a:ext cx="320040" cy="16459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78624" y="4206240"/>
            <a:ext cx="320040" cy="16459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92040" y="5303520"/>
            <a:ext cx="320040" cy="16459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78624" y="5303520"/>
            <a:ext cx="320040" cy="164592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49040" y="230428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126480" y="230428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503920" y="230428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49040" y="340156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126480" y="340156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503920" y="340156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749040" y="449884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126480" y="449884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03920" y="4498848"/>
            <a:ext cx="210312" cy="384048"/>
          </a:xfrm>
          <a:prstGeom prst="downArrow">
            <a:avLst/>
          </a:prstGeom>
          <a:solidFill>
            <a:srgbClr val="9CB6CE"/>
          </a:solidFill>
          <a:ln w="12700">
            <a:solidFill>
              <a:srgbClr val="9CB6C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02368" y="2816352"/>
            <a:ext cx="1591056" cy="2724912"/>
          </a:xfrm>
          <a:prstGeom prst="roundRect">
            <a:avLst>
              <a:gd name="adj" fmla="val 2874"/>
            </a:avLst>
          </a:prstGeom>
          <a:solidFill>
            <a:srgbClr val="FFF4D6"/>
          </a:solidFill>
          <a:ln w="15240">
            <a:solidFill>
              <a:srgbClr val="F5C45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976104" y="303580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A5A00"/>
                </a:solidFill>
              </a:rPr>
              <a:t>WHY IT MATTERS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9976104" y="3429000"/>
            <a:ext cx="1234440" cy="17190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</a:rPr>
              <a:t>The LLM does not write the final Terraform. It collects and validates inputs. Templates produce repeatable code, while PR review and approval preserve control.</a:t>
            </a:r>
            <a:endParaRPr lang="en-US" sz="1020" dirty="0"/>
          </a:p>
        </p:txBody>
      </p:sp>
      <p:sp>
        <p:nvSpPr>
          <p:cNvPr id="7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significance: faster self-service without surrendering governance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9496" y="10332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F6B7A"/>
                </a:solidFill>
              </a:rPr>
              <a:t>A reusable accelerator turns infrastructure intent into reviewable, repeatable Azure change.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994392" y="621792"/>
            <a:ext cx="1618488" cy="310896"/>
          </a:xfrm>
          <a:prstGeom prst="roundRect">
            <a:avLst>
              <a:gd name="adj" fmla="val 23529"/>
            </a:avLst>
          </a:prstGeom>
          <a:solidFill>
            <a:srgbClr val="EAF6EA"/>
          </a:solidFill>
          <a:ln w="12700">
            <a:solidFill>
              <a:srgbClr val="EAF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67544" y="676656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7C10"/>
                </a:solidFill>
              </a:rPr>
              <a:t>VALUE CASE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94360" y="1554480"/>
            <a:ext cx="3410712" cy="1033272"/>
          </a:xfrm>
          <a:prstGeom prst="roundRect">
            <a:avLst>
              <a:gd name="adj" fmla="val 7080"/>
            </a:avLst>
          </a:prstGeom>
          <a:solidFill>
            <a:srgbClr val="EAF4FB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728216"/>
            <a:ext cx="393192" cy="39319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379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89304" y="170992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Completeness by design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9304" y="19933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Mandatory fields such as DB size / SKU are prompted and validated before submission.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361688" y="1554480"/>
            <a:ext cx="3410712" cy="1033272"/>
          </a:xfrm>
          <a:prstGeom prst="roundRect">
            <a:avLst>
              <a:gd name="adj" fmla="val 7080"/>
            </a:avLst>
          </a:prstGeom>
          <a:solidFill>
            <a:srgbClr val="F0EDFF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728216"/>
            <a:ext cx="393192" cy="393192"/>
          </a:xfrm>
          <a:prstGeom prst="ellipse">
            <a:avLst/>
          </a:prstGeom>
          <a:solidFill>
            <a:srgbClr val="6B4EFF"/>
          </a:solidFill>
          <a:ln w="12700">
            <a:solidFill>
              <a:srgbClr val="6B4E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8379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56632" y="170992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Lower skill barrier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56632" y="19933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Non-technical and semi-technical engineers can express requirements conversationally.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8129016" y="1554480"/>
            <a:ext cx="3410712" cy="1033272"/>
          </a:xfrm>
          <a:prstGeom prst="roundRect">
            <a:avLst>
              <a:gd name="adj" fmla="val 7080"/>
            </a:avLst>
          </a:prstGeom>
          <a:solidFill>
            <a:srgbClr val="EAF6EA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3608" y="1728216"/>
            <a:ext cx="393192" cy="393192"/>
          </a:xfrm>
          <a:prstGeom prst="ellipse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3608" y="183794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823960" y="170992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Repeatable output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23960" y="199339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A validated requirements object drives deterministic Jinja2 templates, not free-form LLM code.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94360" y="2834640"/>
            <a:ext cx="3410712" cy="1033272"/>
          </a:xfrm>
          <a:prstGeom prst="roundRect">
            <a:avLst>
              <a:gd name="adj" fmla="val 7080"/>
            </a:avLst>
          </a:prstGeom>
          <a:solidFill>
            <a:srgbClr val="FFF4D6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" y="3008376"/>
            <a:ext cx="393192" cy="3931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11810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289304" y="299008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Governed change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89304" y="327355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Feature branch, plan visibility, reviewer approval, protected merge, then apply.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4361688" y="2834640"/>
            <a:ext cx="3410712" cy="1033272"/>
          </a:xfrm>
          <a:prstGeom prst="roundRect">
            <a:avLst>
              <a:gd name="adj" fmla="val 7080"/>
            </a:avLst>
          </a:prstGeom>
          <a:solidFill>
            <a:srgbClr val="E9F8FC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008376"/>
            <a:ext cx="393192" cy="393192"/>
          </a:xfrm>
          <a:prstGeom prst="ellipse">
            <a:avLst/>
          </a:prstGeom>
          <a:solidFill>
            <a:srgbClr val="2D9CDB"/>
          </a:solidFill>
          <a:ln w="12700">
            <a:solidFill>
              <a:srgbClr val="2D9C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11810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56632" y="299008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Faster extension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56632" y="327355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Add a schema and template folder for a new resource type without changing conversational or rendering code.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8129016" y="2834640"/>
            <a:ext cx="3410712" cy="1033272"/>
          </a:xfrm>
          <a:prstGeom prst="roundRect">
            <a:avLst>
              <a:gd name="adj" fmla="val 7080"/>
            </a:avLst>
          </a:prstGeom>
          <a:solidFill>
            <a:srgbClr val="EAF0F7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3608" y="3008376"/>
            <a:ext cx="393192" cy="393192"/>
          </a:xfrm>
          <a:prstGeom prst="ellipse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93608" y="3118104"/>
            <a:ext cx="393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823960" y="299008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</a:rPr>
              <a:t>Auditability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823960" y="3273552"/>
            <a:ext cx="251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5F6B7A"/>
                </a:solidFill>
              </a:rPr>
              <a:t>Requirements, generated code, plan, review and merge remain visible in the Git workflow.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594360" y="4343400"/>
            <a:ext cx="11000232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55371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</a:rPr>
              <a:t>INDUSTRY SIGNALS AND POSITIONING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41248" y="48920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</a:rPr>
              <a:t>Azure Landing Zones IaC Accelerator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41248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F6B7A"/>
                </a:solidFill>
              </a:rPr>
              <a:t>Bootstraps governed platform landing-zone delivery using Terraform or Bicep, GitHub or Azure DevOps.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4133088" y="4818888"/>
            <a:ext cx="1" cy="804672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43400" y="48920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4EFF"/>
                </a:solidFill>
              </a:rPr>
              <a:t>Azure Verified Modules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343400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F6B7A"/>
                </a:solidFill>
              </a:rPr>
              <a:t>Reusable Microsoft-standard IaC building blocks for consistent Azure resource and pattern deployment.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7635240" y="4818888"/>
            <a:ext cx="1" cy="804672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45552" y="48920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7C10"/>
                </a:solidFill>
              </a:rPr>
              <a:t>HCP Terraform no-code provisioning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845552" y="51663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dirty="0">
                <a:solidFill>
                  <a:srgbClr val="5F6B7A"/>
                </a:solidFill>
              </a:rPr>
              <a:t>Self-service deployment of approved modules without requiring users to write Terraform configuration.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8613648" y="5925312"/>
            <a:ext cx="2980944" cy="347472"/>
          </a:xfrm>
          <a:prstGeom prst="roundRect">
            <a:avLst>
              <a:gd name="adj" fmla="val 13158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32520" y="599846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</a:rPr>
              <a:t>Our fit: conversational intake + schema gates + deterministic Terraform + PR approval</a:t>
            </a:r>
            <a:endParaRPr lang="en-US" sz="87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6539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873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TEKsystems Global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Infra Provisioning Agent</dc:title>
  <dc:subject>Azure Infra Provisioning Agent leadership design</dc:subject>
  <dc:creator>Kilani, Sudhir</dc:creator>
  <cp:lastModifiedBy>Kilani, Sudhir</cp:lastModifiedBy>
  <cp:revision>3</cp:revision>
  <dcterms:created xsi:type="dcterms:W3CDTF">2026-08-17T14:29:11Z</dcterms:created>
  <dcterms:modified xsi:type="dcterms:W3CDTF">2026-08-17T14:45:35Z</dcterms:modified>
</cp:coreProperties>
</file>